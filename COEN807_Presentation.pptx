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5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7" r:id="rId3"/>
    <p:sldId id="258" r:id="rId4"/>
    <p:sldId id="280" r:id="rId5"/>
    <p:sldId id="281" r:id="rId6"/>
    <p:sldId id="259" r:id="rId7"/>
    <p:sldId id="263" r:id="rId8"/>
    <p:sldId id="269" r:id="rId9"/>
    <p:sldId id="270" r:id="rId10"/>
    <p:sldId id="272" r:id="rId11"/>
    <p:sldId id="278" r:id="rId12"/>
    <p:sldId id="279" r:id="rId13"/>
    <p:sldId id="267" r:id="rId14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F316F-8956-47F4-915D-A9D8C8CE385C}" type="datetimeFigureOut">
              <a:rPr lang="en-NG" smtClean="0"/>
              <a:t>06/09/2026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69369-2513-4DD4-8975-BCD8DAD935D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2422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FF66-DB20-6102-2E20-5D782B50F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242" y="978317"/>
            <a:ext cx="11585543" cy="1243765"/>
          </a:xfrm>
        </p:spPr>
        <p:txBody>
          <a:bodyPr anchor="ctr"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0EDB2-1D89-C98D-9181-A5506A9FD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0404"/>
            <a:ext cx="9144000" cy="131739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60EAB-10C6-5886-1426-720C1C4DB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9DD52-68CE-481C-9E19-D655006EFB80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3F9F-8C2F-25B9-EB20-B0B227745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65FC2-9693-7FF2-38C1-9C8AA945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0570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8137-6384-3893-28B0-6338C76B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A6DE5-7F2A-6925-732E-AF5ED0CB7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3E59-32A9-0F06-D05A-1423777A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4675-2540-4D0B-ABD2-27D5850A2B75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5749F-F566-F0C3-8026-8CE4A3D2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D1112-3B87-CAF0-1CA0-FF71552D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85186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C2AA-7C6D-C392-B4C4-82AF0C20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B582-F51A-8942-8ACA-8C952CB74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38B8E-FFD2-BCFE-57CD-7795865D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6066-ADE3-472F-A003-A55564DA98F3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6E8D1-86B5-5950-E1A0-11B827E3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40827-CCC6-AB63-085D-1127F74D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334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F16C-7A9F-C246-0802-746DB8B2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C988-3B92-FE8D-5678-72768E92A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C1F20-D64C-7F94-FD55-7DAE68434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AE409-FBD6-6F7A-FA16-0A29D60B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C110-F7A2-4271-A287-90629EB3E881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1026B-2BBC-B94B-B265-FB202F25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5AB8A-A81E-9810-AD92-01672FCE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881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55E5-FB28-7AEA-07C2-B3FC4316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328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4712D-B203-65C8-D617-32826AEBA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4014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9EA08-8343-2BED-9539-AD9653BE4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64052"/>
            <a:ext cx="5157787" cy="4290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1B399-FD1C-2685-EC7B-A69472494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4014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96E8D-AC9F-2611-E3E1-484228233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64051"/>
            <a:ext cx="5183188" cy="42909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7DD93-882C-13E1-79AD-10E8BDB3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F820-F56F-443E-B9D3-FD1F484665B7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C9AB0-A93C-A370-2A5E-E850002C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23C5FF-9F78-FEA7-A701-1B510B09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733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FF43-D5EE-AADB-81BD-7BDEC597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32114-3AEC-E64E-93C7-5BF2F833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286" y="6484165"/>
            <a:ext cx="2743200" cy="365125"/>
          </a:xfrm>
        </p:spPr>
        <p:txBody>
          <a:bodyPr/>
          <a:lstStyle/>
          <a:p>
            <a:fld id="{FA23F55E-7448-4E84-AB77-68698C1FF0B2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5FC9B-99D7-9043-AC1F-0768E21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876"/>
            <a:ext cx="4114800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Department of Computer Engineering</a:t>
            </a:r>
            <a:endParaRPr lang="en-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DBB03-09E2-1DDE-D6CC-2B5FD66C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6514" y="6484166"/>
            <a:ext cx="2743200" cy="365125"/>
          </a:xfrm>
        </p:spPr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28176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9719D1-6E6C-44F5-A79E-F8243F04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4B92-F72B-4540-9EE1-66E7C1167649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E64F7-D474-2B87-8276-FCC2E8C2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8410C-F468-33E7-90B2-4CB6132C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1865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F49B-D420-C8E4-BF3A-962E0318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D9C6B-7A3B-CE15-8CFD-CB05476C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6FAD1-B266-167A-DAC0-773B55C60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3E40C-1601-5AE3-1FE2-861B9747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36F4F-29B1-432B-A6E4-764F19C40F39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C9156-8FB4-B1C5-C826-D94E45A2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26015-85A5-F6F7-22CC-84FA5CB1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9718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60D2-867D-19F8-2407-E5045E56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FEAB4B-34EC-0660-1277-01173FEBD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FDAF3-6AC5-4315-5904-DF347631B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7DF92-B0A7-D31A-15DC-79A8EAAE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CBB5-083B-4017-A61D-1AFB2118F5DB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A2B20-E1C4-33E0-83D5-DDBA558F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5495F-BC4B-FAC6-D9B0-25993B86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3374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4625-576C-5A6B-A017-EE446CFE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D83C0-3B26-FFAE-B0DA-60BF2AFCE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84598-A960-C406-1B2E-3D729059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CE6E-064A-4A69-ACBC-DAAA5F1006F8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F656F-B061-7248-082C-FDA29262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4E3D7-756B-3D47-4EC4-95F50BA6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45023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72BD9-5815-2A3E-5CDA-50F65B42F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98F68-D01D-0288-0B69-3B651825D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5FD7-1FE3-C14E-45FE-8E6AFEBE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79F6-CDC8-447A-8693-985C1A87E6A9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6BDF0-BC0E-AA25-4150-C45D0FC7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1812E-0219-D674-C279-1C1BC8FB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9331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AEF2E0-6DFC-076B-D24C-CD1C0953D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436258" cy="681037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EBBFD-59D4-AD99-B9FB-EAC4FB5B0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67" y="923827"/>
            <a:ext cx="11953189" cy="5284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D402D-61EA-7CA8-FFC0-64053E97F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234FE06-B838-442D-85BB-41F7D05993B2}" type="datetime8">
              <a:rPr lang="en-NG" smtClean="0"/>
              <a:pPr/>
              <a:t>06/09/2026 16:37</a:t>
            </a:fld>
            <a:endParaRPr lang="en-N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B617E-2382-2C0A-07D5-59814C0BA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470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Department of Computer Engineering</a:t>
            </a:r>
            <a:endParaRPr lang="en-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2826B-B9CC-838C-7C8F-5B880ACC7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B5A27B-A003-4FE4-962A-F2459B74B4ED}" type="slidenum">
              <a:rPr lang="en-NG" smtClean="0"/>
              <a:pPr/>
              <a:t>‹#›</a:t>
            </a:fld>
            <a:endParaRPr lang="en-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5AEC90-9FBF-A342-C3CB-E6195D01EE0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2021" cy="678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529FA3-EA23-D62A-59FB-29051D4782D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0637" y="46606"/>
            <a:ext cx="773500" cy="56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65E519CB-BAEA-D76B-5DD2-746FFE5E84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2F0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DD037-6A79-91CD-DFAF-74934309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1</a:t>
            </a:fld>
            <a:endParaRPr lang="en-NG"/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084286BF-5F49-0552-82D5-B31D13A042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28999"/>
            <a:ext cx="12192000" cy="3429000"/>
          </a:xfrm>
          <a:prstGeom prst="rect">
            <a:avLst/>
          </a:prstGeom>
        </p:spPr>
      </p:pic>
      <p:pic>
        <p:nvPicPr>
          <p:cNvPr id="16" name="object 5">
            <a:extLst>
              <a:ext uri="{FF2B5EF4-FFF2-40B4-BE49-F238E27FC236}">
                <a16:creationId xmlns:a16="http://schemas.microsoft.com/office/drawing/2014/main" id="{57696C6B-04DA-A0A0-3F5D-22FAD148C1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" y="137160"/>
            <a:ext cx="11897106" cy="6563106"/>
          </a:xfrm>
          <a:prstGeom prst="rect">
            <a:avLst/>
          </a:prstGeom>
        </p:spPr>
      </p:pic>
      <p:sp>
        <p:nvSpPr>
          <p:cNvPr id="17" name="object 6">
            <a:extLst>
              <a:ext uri="{FF2B5EF4-FFF2-40B4-BE49-F238E27FC236}">
                <a16:creationId xmlns:a16="http://schemas.microsoft.com/office/drawing/2014/main" id="{2C35CE8B-D9D7-E67B-3674-CB02CFA489FB}"/>
              </a:ext>
            </a:extLst>
          </p:cNvPr>
          <p:cNvSpPr/>
          <p:nvPr/>
        </p:nvSpPr>
        <p:spPr>
          <a:xfrm>
            <a:off x="457200" y="157734"/>
            <a:ext cx="11277600" cy="6243065"/>
          </a:xfrm>
          <a:custGeom>
            <a:avLst/>
            <a:gdLst/>
            <a:ahLst/>
            <a:cxnLst/>
            <a:rect l="l" t="t" r="r" b="b"/>
            <a:pathLst>
              <a:path w="11277600" h="5943600">
                <a:moveTo>
                  <a:pt x="11277600" y="4356100"/>
                </a:moveTo>
                <a:lnTo>
                  <a:pt x="0" y="4356100"/>
                </a:lnTo>
                <a:lnTo>
                  <a:pt x="0" y="5943600"/>
                </a:lnTo>
                <a:lnTo>
                  <a:pt x="11277600" y="5943600"/>
                </a:lnTo>
                <a:lnTo>
                  <a:pt x="11277600" y="4356100"/>
                </a:lnTo>
                <a:close/>
              </a:path>
              <a:path w="11277600" h="5943600">
                <a:moveTo>
                  <a:pt x="11277600" y="0"/>
                </a:moveTo>
                <a:lnTo>
                  <a:pt x="0" y="0"/>
                </a:lnTo>
                <a:lnTo>
                  <a:pt x="0" y="3985260"/>
                </a:lnTo>
                <a:lnTo>
                  <a:pt x="11277600" y="3985260"/>
                </a:lnTo>
                <a:lnTo>
                  <a:pt x="11277600" y="0"/>
                </a:lnTo>
                <a:close/>
              </a:path>
            </a:pathLst>
          </a:custGeom>
          <a:solidFill>
            <a:srgbClr val="FFFFFF">
              <a:alpha val="9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124BA-AB60-7D3C-81F4-D8C2324E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3DD-E7BE-43E4-B95C-5A29A73FF9CD}" type="datetime8">
              <a:rPr lang="en-NG" smtClean="0"/>
              <a:t>06/09/2026 16:37</a:t>
            </a:fld>
            <a:endParaRPr lang="en-N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A13B-64A4-6F58-7E96-2BE6154C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1694" y="6484707"/>
            <a:ext cx="4114800" cy="365125"/>
          </a:xfrm>
        </p:spPr>
        <p:txBody>
          <a:bodyPr/>
          <a:lstStyle/>
          <a:p>
            <a:r>
              <a:rPr lang="en-US" dirty="0"/>
              <a:t>Department of Computer Engineering</a:t>
            </a:r>
            <a:endParaRPr lang="en-NG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A385A4E-259B-9661-CAE9-9A7FB369FB87}"/>
              </a:ext>
            </a:extLst>
          </p:cNvPr>
          <p:cNvSpPr txBox="1">
            <a:spLocks noChangeArrowheads="1"/>
          </p:cNvSpPr>
          <p:nvPr/>
        </p:nvSpPr>
        <p:spPr>
          <a:xfrm>
            <a:off x="413165" y="505234"/>
            <a:ext cx="10790238" cy="3835240"/>
          </a:xfrm>
          <a:prstGeom prst="rect">
            <a:avLst/>
          </a:prstGeom>
          <a:ln w="57150" cap="flat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0170" tIns="46990" rIns="90170" bIns="469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AHMADU BELLO UNIVERSITY, ZARIA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COEN 807 – MACHINE LEARNING</a:t>
            </a:r>
          </a:p>
          <a:p>
            <a:pPr marL="0" indent="0" algn="ctr">
              <a:buNone/>
            </a:pPr>
            <a:endParaRPr lang="en-US" sz="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2025/2026 FIRST SEMESTER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PROJECT-BASED EXAMINATION 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b="1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PROGRAMME: MSc. Artificial Intelligence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Department of Computer Engineering, ABU Zaria">
            <a:extLst>
              <a:ext uri="{FF2B5EF4-FFF2-40B4-BE49-F238E27FC236}">
                <a16:creationId xmlns:a16="http://schemas.microsoft.com/office/drawing/2014/main" id="{D31F1D4F-7338-6A01-6417-770DD91EA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534" y="413699"/>
            <a:ext cx="1881754" cy="126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743F8A-08FD-F6F3-23B5-C516566D03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12" y="505234"/>
            <a:ext cx="1329660" cy="131996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01F2419-E4A9-237D-6DDE-AEE857F53DE2}"/>
              </a:ext>
            </a:extLst>
          </p:cNvPr>
          <p:cNvSpPr/>
          <p:nvPr/>
        </p:nvSpPr>
        <p:spPr>
          <a:xfrm>
            <a:off x="4831886" y="6441091"/>
            <a:ext cx="2091428" cy="437483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JUNE, 2026</a:t>
            </a:r>
            <a:endParaRPr lang="en-GB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282AB9-5ECA-E3CF-801C-59C35C5C65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923" y="4490040"/>
            <a:ext cx="1768191" cy="19107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AAE569-BE6C-4219-1340-8F96FCCD7CC5}"/>
              </a:ext>
            </a:extLst>
          </p:cNvPr>
          <p:cNvSpPr txBox="1"/>
          <p:nvPr/>
        </p:nvSpPr>
        <p:spPr>
          <a:xfrm>
            <a:off x="2861671" y="4845255"/>
            <a:ext cx="6125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BY: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MUHAMMAD RABIATA KANI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P25EGCP8026</a:t>
            </a:r>
          </a:p>
        </p:txBody>
      </p:sp>
    </p:spTree>
    <p:extLst>
      <p:ext uri="{BB962C8B-B14F-4D97-AF65-F5344CB8AC3E}">
        <p14:creationId xmlns:p14="http://schemas.microsoft.com/office/powerpoint/2010/main" val="337002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CD96-5BCA-99FE-410C-E1B789411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228" y="2068094"/>
            <a:ext cx="11585543" cy="201981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STUDENT ACADEMIC PERFORMANCE USING MACHINE LEARNING TECHNIQUES: A COMPARATIVE STUDY OF CLASSIFICATION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124BA-AB60-7D3C-81F4-D8C2324E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3DD-E7BE-43E4-B95C-5A29A73FF9CD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A13B-64A4-6F58-7E96-2BE6154C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DD037-6A79-91CD-DFAF-74934309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2</a:t>
            </a:fld>
            <a:endParaRPr lang="en-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960A12-1392-BF16-E31B-63DBEC25414B}"/>
              </a:ext>
            </a:extLst>
          </p:cNvPr>
          <p:cNvSpPr txBox="1"/>
          <p:nvPr/>
        </p:nvSpPr>
        <p:spPr>
          <a:xfrm>
            <a:off x="2857432" y="5144299"/>
            <a:ext cx="61161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  <a:defRPr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Submitted to:</a:t>
            </a:r>
          </a:p>
          <a:p>
            <a:pPr marL="0" indent="0" algn="ctr"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Dr. Y. Ibrahim</a:t>
            </a:r>
          </a:p>
          <a:p>
            <a:pPr marL="0" indent="0" algn="ctr">
              <a:buNone/>
              <a:defRPr/>
            </a:pP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</a:t>
            </a:r>
            <a:endParaRPr lang="en-US" altLang="en-US" sz="1800" b="1" dirty="0">
              <a:latin typeface="Comic Sans MS" panose="030F0702030302020204" pitchFamily="66" charset="0"/>
              <a:sym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75F99-3B46-0097-0609-330D2CF6D1B1}"/>
              </a:ext>
            </a:extLst>
          </p:cNvPr>
          <p:cNvSpPr txBox="1"/>
          <p:nvPr/>
        </p:nvSpPr>
        <p:spPr>
          <a:xfrm>
            <a:off x="1062333" y="1195872"/>
            <a:ext cx="9764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B050"/>
                </a:solidFill>
                <a:latin typeface="Arial Black" panose="020B0A04020102020204" pitchFamily="34" charset="0"/>
              </a:rPr>
              <a:t>PROJECT TITLE:</a:t>
            </a:r>
          </a:p>
        </p:txBody>
      </p:sp>
    </p:spTree>
    <p:extLst>
      <p:ext uri="{BB962C8B-B14F-4D97-AF65-F5344CB8AC3E}">
        <p14:creationId xmlns:p14="http://schemas.microsoft.com/office/powerpoint/2010/main" val="373433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AA272B9-D70B-A29A-0941-4DF10205E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0785"/>
            <a:ext cx="10515600" cy="82391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PROBLEM OVERVIEW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5E866E-E3E1-7E53-AC4C-84D5557DA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257" y="1743146"/>
            <a:ext cx="10995425" cy="36561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Educational institutions generate large volumes of student data.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Early identification of at-risk students is important.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Machine learning can support academic decision-making.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Problem: Predict whether a student will Pass or Fail.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767A4-FAD4-E68A-26BA-45394A8B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F820-F56F-443E-B9D3-FD1F484665B7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C489C-5FDF-08CC-1CBC-477C2594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7C799-CD4A-4F6A-FB1D-A2E8AAE9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5010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AA272B9-D70B-A29A-0941-4DF10205E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95567"/>
            <a:ext cx="10515600" cy="82391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PROJECT OBJECTIVES: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5E866E-E3E1-7E53-AC4C-84D5557DA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363" y="1940026"/>
            <a:ext cx="7930923" cy="372054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Acquire a real-world dataset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Preprocess and transform data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Implement multiple classification models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Compare model performance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Identify the best-performing model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767A4-FAD4-E68A-26BA-45394A8B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F820-F56F-443E-B9D3-FD1F484665B7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C489C-5FDF-08CC-1CBC-477C2594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7C799-CD4A-4F6A-FB1D-A2E8AAE9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4138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4086-ECD1-1387-D293-108D631A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3356"/>
            <a:ext cx="10515600" cy="82391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DATASET DESCRIPTION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5C223-D369-DAA0-52DD-9A8CBAD6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F820-F56F-443E-B9D3-FD1F484665B7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23AAA-5D91-AFB1-D762-3B41C06FF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09D5D-9832-85A3-E289-ED10BE72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5</a:t>
            </a:fld>
            <a:endParaRPr lang="en-NG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21375F3A-3DCA-F7AD-11A1-7DEABB7B9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363" y="1736826"/>
            <a:ext cx="7930923" cy="41995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Dataset: UCI Student Performance Dataset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  395 student records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  33 attributes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  Pass/Fail target variable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Real educational data suitable for predictive analytics</a:t>
            </a:r>
          </a:p>
        </p:txBody>
      </p:sp>
    </p:spTree>
    <p:extLst>
      <p:ext uri="{BB962C8B-B14F-4D97-AF65-F5344CB8AC3E}">
        <p14:creationId xmlns:p14="http://schemas.microsoft.com/office/powerpoint/2010/main" val="262256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90708C5-87B9-FFC8-2CE6-C3D63D0F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308"/>
            <a:ext cx="10436258" cy="681037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METHODOLOGY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DF83A2E-89EC-5700-AC42-B53C4C568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696" y="1640113"/>
            <a:ext cx="9064247" cy="456771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Data preprocessing</a:t>
            </a:r>
          </a:p>
          <a:p>
            <a:pPr>
              <a:lnSpc>
                <a:spcPct val="200000"/>
              </a:lnSpc>
            </a:pPr>
            <a:r>
              <a:rPr lang="en-US" b="1" dirty="0"/>
              <a:t>Categorical encoding</a:t>
            </a:r>
          </a:p>
          <a:p>
            <a:pPr>
              <a:lnSpc>
                <a:spcPct val="200000"/>
              </a:lnSpc>
            </a:pPr>
            <a:r>
              <a:rPr lang="en-US" b="1" dirty="0"/>
              <a:t>Feature selection</a:t>
            </a:r>
          </a:p>
          <a:p>
            <a:pPr>
              <a:lnSpc>
                <a:spcPct val="200000"/>
              </a:lnSpc>
            </a:pPr>
            <a:r>
              <a:rPr lang="en-US" b="1" dirty="0"/>
              <a:t>Classification modelling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A38ED-C5D4-CF42-B5AA-630256BD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F820-F56F-443E-B9D3-FD1F484665B7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B3A58-C918-B36F-11D3-40C19E00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68E75-C6DE-CC3C-44C4-A7A206FF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6</a:t>
            </a:fld>
            <a:endParaRPr lang="en-N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CD8F5D-43FA-11CB-0A51-D4393ED5610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7" b="10188"/>
          <a:stretch>
            <a:fillRect/>
          </a:stretch>
        </p:blipFill>
        <p:spPr bwMode="auto">
          <a:xfrm>
            <a:off x="4403251" y="1640113"/>
            <a:ext cx="7500298" cy="39752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9DAD90-7640-9E58-24AD-3A5E117C9B86}"/>
              </a:ext>
            </a:extLst>
          </p:cNvPr>
          <p:cNvSpPr txBox="1"/>
          <p:nvPr/>
        </p:nvSpPr>
        <p:spPr>
          <a:xfrm>
            <a:off x="5156048" y="5598942"/>
            <a:ext cx="611841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buNone/>
            </a:pPr>
            <a:r>
              <a:rPr lang="en-US" sz="18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 1: Problem Workflow Diagram </a:t>
            </a:r>
            <a:endParaRPr lang="en-US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575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5B56-07B1-421F-1F9E-37035451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22" y="584129"/>
            <a:ext cx="10436258" cy="681037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MACHINE LEARNING MODELS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52FCE-4496-1621-3A27-DCE776E2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4675-2540-4D0B-ABD2-27D5850A2B75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DD83-89F5-267C-5B03-4B41CD7B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D4DD6-919B-D34B-1001-D0DA178A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7</a:t>
            </a:fld>
            <a:endParaRPr lang="en-N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220C33-4850-22FC-AF45-BA58D8895C15}"/>
              </a:ext>
            </a:extLst>
          </p:cNvPr>
          <p:cNvSpPr txBox="1"/>
          <p:nvPr/>
        </p:nvSpPr>
        <p:spPr>
          <a:xfrm>
            <a:off x="767897" y="1434292"/>
            <a:ext cx="10052503" cy="4183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Neighbors (KNN)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Rule Classifier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Classification 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(Simulated)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No MATLAB ML Toolbox was used.</a:t>
            </a:r>
          </a:p>
        </p:txBody>
      </p:sp>
    </p:spTree>
    <p:extLst>
      <p:ext uri="{BB962C8B-B14F-4D97-AF65-F5344CB8AC3E}">
        <p14:creationId xmlns:p14="http://schemas.microsoft.com/office/powerpoint/2010/main" val="278956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90708C5-87B9-FFC8-2CE6-C3D63D0F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1961"/>
            <a:ext cx="10515600" cy="82391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EXPERIMENTAL SETUP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A38ED-C5D4-CF42-B5AA-630256BD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F820-F56F-443E-B9D3-FD1F484665B7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B3A58-C918-B36F-11D3-40C19E00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Engineering</a:t>
            </a:r>
            <a:endParaRPr lang="en-NG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68E75-C6DE-CC3C-44C4-A7A206FF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8</a:t>
            </a:fld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C02E7-21FD-BA0D-EDC6-C15520F089B7}"/>
              </a:ext>
            </a:extLst>
          </p:cNvPr>
          <p:cNvSpPr txBox="1"/>
          <p:nvPr/>
        </p:nvSpPr>
        <p:spPr>
          <a:xfrm>
            <a:off x="5504663" y="5895120"/>
            <a:ext cx="612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Train-Test Split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5FE34-FBE2-1B9D-050B-E1108117D7B1}"/>
              </a:ext>
            </a:extLst>
          </p:cNvPr>
          <p:cNvSpPr txBox="1"/>
          <p:nvPr/>
        </p:nvSpPr>
        <p:spPr>
          <a:xfrm>
            <a:off x="767897" y="1434292"/>
            <a:ext cx="10052503" cy="2450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 implementation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 Training / 30% Testing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evaluation metric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416410-98EC-E190-428F-223CF51C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61"/>
          <a:stretch>
            <a:fillRect/>
          </a:stretch>
        </p:blipFill>
        <p:spPr>
          <a:xfrm>
            <a:off x="5778967" y="1579162"/>
            <a:ext cx="5576421" cy="417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69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90708C5-87B9-FFC8-2CE6-C3D63D0F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76040"/>
            <a:ext cx="10515600" cy="82391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RESULTS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A38ED-C5D4-CF42-B5AA-630256BD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F820-F56F-443E-B9D3-FD1F484665B7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B3A58-C918-B36F-11D3-40C19E00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68E75-C6DE-CC3C-44C4-A7A206FF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9</a:t>
            </a:fld>
            <a:endParaRPr lang="en-N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E25250-15E4-2460-6FDF-D3E6F472B320}"/>
              </a:ext>
            </a:extLst>
          </p:cNvPr>
          <p:cNvSpPr txBox="1"/>
          <p:nvPr/>
        </p:nvSpPr>
        <p:spPr>
          <a:xfrm>
            <a:off x="501650" y="1758870"/>
            <a:ext cx="5361268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</a:p>
          <a:p>
            <a:pPr marL="457200" marR="0" lvl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KNN = 30.51%</a:t>
            </a:r>
          </a:p>
          <a:p>
            <a:pPr marL="457200" marR="0" lvl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Rule = 30.51%</a:t>
            </a:r>
          </a:p>
          <a:p>
            <a:pPr marL="457200" marR="0" lvl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Model = 30.51%</a:t>
            </a:r>
          </a:p>
          <a:p>
            <a:pPr marL="457200" marR="0" lvl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= 53.39%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B539DF-B279-2AD3-3A72-4210CEE0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04"/>
          <a:stretch>
            <a:fillRect/>
          </a:stretch>
        </p:blipFill>
        <p:spPr>
          <a:xfrm>
            <a:off x="5862918" y="2458230"/>
            <a:ext cx="5361268" cy="19415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54F0C8-9719-1BC5-A799-CD976B6DE985}"/>
              </a:ext>
            </a:extLst>
          </p:cNvPr>
          <p:cNvSpPr txBox="1"/>
          <p:nvPr/>
        </p:nvSpPr>
        <p:spPr>
          <a:xfrm>
            <a:off x="5571940" y="4429650"/>
            <a:ext cx="611841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buNone/>
            </a:pPr>
            <a:r>
              <a:rPr lang="en-US" sz="1800" b="1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3: Model Accuracy Comparison Bar Chart</a:t>
            </a:r>
            <a:endParaRPr lang="en-US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75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44E5-6B08-D959-271F-36C0EEE8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897"/>
            <a:ext cx="10436258" cy="681037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COMPARATIVE ANALYSIS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4F81B-6B1B-EA45-2462-ED7134E7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4675-2540-4D0B-ABD2-27D5850A2B75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E4897-20C1-5E0D-3143-FE07EBA1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D2010-80C7-7D35-4C4E-67F2A78E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10</a:t>
            </a:fld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E8FB8-F6AD-7C32-F8D8-444835357798}"/>
              </a:ext>
            </a:extLst>
          </p:cNvPr>
          <p:cNvSpPr txBox="1"/>
          <p:nvPr/>
        </p:nvSpPr>
        <p:spPr>
          <a:xfrm>
            <a:off x="501650" y="1758870"/>
            <a:ext cx="10772808" cy="145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achieved the highest accuracy.</a:t>
            </a:r>
          </a:p>
          <a:p>
            <a:pPr marL="457200" marR="0" lvl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Ensemble learning outperformed simple classifiers.</a:t>
            </a:r>
          </a:p>
        </p:txBody>
      </p:sp>
    </p:spTree>
    <p:extLst>
      <p:ext uri="{BB962C8B-B14F-4D97-AF65-F5344CB8AC3E}">
        <p14:creationId xmlns:p14="http://schemas.microsoft.com/office/powerpoint/2010/main" val="69361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44E5-6B08-D959-271F-36C0EEE8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543"/>
            <a:ext cx="10436258" cy="681037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KEY FINDINGS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DB0E-B46B-DDB9-8F2E-25D316E18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33" y="1475965"/>
            <a:ext cx="9227795" cy="353146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Student performance can be predicted using ML.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Feature engineering affects performance.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Random Forest was the best-performing model.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4F81B-6B1B-EA45-2462-ED7134E7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4675-2540-4D0B-ABD2-27D5850A2B75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E4897-20C1-5E0D-3143-FE07EBA1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D2010-80C7-7D35-4C4E-67F2A78E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11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5290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44E5-6B08-D959-271F-36C0EEE8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515"/>
            <a:ext cx="10436258" cy="681037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CHALLENGES AND LESSONS LEARNED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4F81B-6B1B-EA45-2462-ED7134E7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4675-2540-4D0B-ABD2-27D5850A2B75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E4897-20C1-5E0D-3143-FE07EBA1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D2010-80C7-7D35-4C4E-67F2A78E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12</a:t>
            </a:fld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6151A-3034-00D1-8F94-79878A25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33" y="1475964"/>
            <a:ext cx="9227795" cy="458865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0000"/>
                </a:solidFill>
              </a:rPr>
              <a:t>Challenges: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No licensed MATLAB toolbox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Small dataset size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0000"/>
                </a:solidFill>
              </a:rPr>
              <a:t>Lessons: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Data preprocessing is critical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Ensemble methods improve performance</a:t>
            </a:r>
          </a:p>
          <a:p>
            <a:pPr>
              <a:lnSpc>
                <a:spcPct val="100000"/>
              </a:lnSpc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7344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CE54BE-CBF5-3D5C-36C1-4707C2AE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THANK YOU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B4B78-EB2E-86F8-B867-8842BDD1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4675-2540-4D0B-ABD2-27D5850A2B75}" type="datetime8">
              <a:rPr lang="en-NG" smtClean="0"/>
              <a:t>06/09/2026 16:37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EA55D-CB38-16F8-00C2-42DAB962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25D39-1E70-2332-8536-9A9ADB82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A27B-A003-4FE4-962A-F2459B74B4ED}" type="slidenum">
              <a:rPr lang="en-NG" smtClean="0"/>
              <a:t>13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56131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7456</TotalTime>
  <Words>383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Comic Sans MS</vt:lpstr>
      <vt:lpstr>Times New Roman</vt:lpstr>
      <vt:lpstr>Wingdings</vt:lpstr>
      <vt:lpstr>Office Theme</vt:lpstr>
      <vt:lpstr>PowerPoint Presentation</vt:lpstr>
      <vt:lpstr>PREDICTING STUDENT ACADEMIC PERFORMANCE USING MACHINE LEARNING TECHNIQUES: A COMPARATIVE STUDY OF CLASSIFICATION ALGORITHMS</vt:lpstr>
      <vt:lpstr>PROBLEM OVERVIEW</vt:lpstr>
      <vt:lpstr>PROJECT OBJECTIVES:</vt:lpstr>
      <vt:lpstr>DATASET DESCRIPTION</vt:lpstr>
      <vt:lpstr>METHODOLOGY</vt:lpstr>
      <vt:lpstr>MACHINE LEARNING MODELS</vt:lpstr>
      <vt:lpstr>EXPERIMENTAL SETUP</vt:lpstr>
      <vt:lpstr>RESULTS</vt:lpstr>
      <vt:lpstr>COMPARATIVE ANALYSIS</vt:lpstr>
      <vt:lpstr>KEY FINDINGS</vt:lpstr>
      <vt:lpstr>CHALLENGES AND LESSONS LEARNED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 OF AN INTELLIGENT SURVEILLANCE SYSTEM</dc:title>
  <dc:creator>Omustapha</dc:creator>
  <cp:lastModifiedBy>Muhammad Rabiata Kani</cp:lastModifiedBy>
  <cp:revision>184</cp:revision>
  <dcterms:created xsi:type="dcterms:W3CDTF">2025-06-30T08:31:36Z</dcterms:created>
  <dcterms:modified xsi:type="dcterms:W3CDTF">2026-06-09T15:48:22Z</dcterms:modified>
</cp:coreProperties>
</file>